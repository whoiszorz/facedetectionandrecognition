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2"/>
  </p:notesMasterIdLst>
  <p:handoutMasterIdLst>
    <p:handoutMasterId r:id="rId13"/>
  </p:handoutMasterIdLst>
  <p:sldIdLst>
    <p:sldId id="257" r:id="rId2"/>
    <p:sldId id="263" r:id="rId3"/>
    <p:sldId id="264" r:id="rId4"/>
    <p:sldId id="270" r:id="rId5"/>
    <p:sldId id="265" r:id="rId6"/>
    <p:sldId id="266" r:id="rId7"/>
    <p:sldId id="267" r:id="rId8"/>
    <p:sldId id="268" r:id="rId9"/>
    <p:sldId id="269" r:id="rId10"/>
    <p:sldId id="262" r:id="rId11"/>
  </p:sldIdLst>
  <p:sldSz cx="12192000" cy="6858000"/>
  <p:notesSz cx="6858000" cy="9144000"/>
  <p:defaultTextStyle>
    <a:defPPr rtl="0">
      <a:defRPr lang="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529"/>
    <a:srgbClr val="2B3922"/>
    <a:srgbClr val="2E3722"/>
    <a:srgbClr val="FCF7F1"/>
    <a:srgbClr val="B8D233"/>
    <a:srgbClr val="5CC6D6"/>
    <a:srgbClr val="F8D22F"/>
    <a:srgbClr val="F03F2B"/>
    <a:srgbClr val="3488A0"/>
    <a:srgbClr val="579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814DCE5-411A-4E42-AD3C-2494A4EAE779}" type="datetime1">
              <a:rPr lang="hu-HU" smtClean="0"/>
              <a:t>2020. 11. 10.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7ACF5E7-ACB0-497B-A8C6-F2E617B463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3396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9368516-3842-4620-B9B3-67F535CB3A5D}" type="datetime1">
              <a:rPr lang="hu-HU" smtClean="0"/>
              <a:t>2020. 11. 10.</a:t>
            </a:fld>
            <a:endParaRPr lang="en-US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"/>
              <a:t>Mintaszöveg szerkesztése</a:t>
            </a:r>
            <a:endParaRPr lang="en-US"/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7A705E3-E620-489D-9973-6221209A4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8183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hu-HU" dirty="0"/>
              <a:t>Legalább két részből áll (arcdetektálás + arcfelismerés), harmadik (köztes) lépés lehet az arc jellemző pontjainak megállapítása, de ez inkább az arcdetektálás része szokott lenni.</a:t>
            </a:r>
          </a:p>
          <a:p>
            <a:pPr marL="228600" indent="-228600">
              <a:buAutoNum type="arabicPeriod"/>
            </a:pPr>
            <a:r>
              <a:rPr lang="hu-HU" dirty="0"/>
              <a:t>-</a:t>
            </a:r>
          </a:p>
          <a:p>
            <a:pPr marL="228600" indent="-228600">
              <a:buAutoNum type="arabicPeriod"/>
            </a:pPr>
            <a:r>
              <a:rPr lang="hu-HU" dirty="0"/>
              <a:t>Komponens-alapú csak olyan szürkeárnyalatos képeknél alkalmazható, ahol a képet szemből készítették. Ellipszisillesztésnél élkiemeléssel kell illeszteni ellipszist a rendelkezésre álló pontokra. Az élkiemelés után pedig a bináris képen lévő pontok koordinátáira kell elvégezni az illesztést. Szegmentálás bőrszín alapján csak színes képekre alkalmazható, de független a fej pozíciójától.</a:t>
            </a:r>
          </a:p>
          <a:p>
            <a:pPr marL="228600" indent="-228600">
              <a:buAutoNum type="arabicPeriod"/>
            </a:pPr>
            <a:r>
              <a:rPr lang="hu-HU" dirty="0"/>
              <a:t>A sablonillesztés a képrészletek közvetlen összehasonlításán alapul, tehát csak akkor működik jól, ha a tanító képek és a kameraképből készített képek iránya, mérete azonos. Neurális hálókkal csak kis adatbázis esetén tudnak dolgozni. Az </a:t>
            </a:r>
            <a:r>
              <a:rPr lang="hu-HU" dirty="0" err="1"/>
              <a:t>Eigenface</a:t>
            </a:r>
            <a:r>
              <a:rPr lang="hu-HU" dirty="0"/>
              <a:t> talán a legnépszerűbb arcfelismerő módszer, 1987 óta használatos. 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rtl="0"/>
            <a:fld id="{79368516-3842-4620-B9B3-67F535CB3A5D}" type="datetime1">
              <a:rPr lang="hu-HU" smtClean="0"/>
              <a:t>2020. 11. 10.</a:t>
            </a:fld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7A705E3-E620-489D-9973-6221209A4B3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471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rtl="0"/>
            <a:fld id="{79368516-3842-4620-B9B3-67F535CB3A5D}" type="datetime1">
              <a:rPr lang="hu-HU" smtClean="0"/>
              <a:t>2020. 11. 10.</a:t>
            </a:fld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7A705E3-E620-489D-9973-6221209A4B3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779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 useBgFill="1">
        <p:nvSpPr>
          <p:cNvPr id="10" name="Téglalap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Téglalap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Téglalap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Csoport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Egyenes összekötő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gyenes összekötő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rtlCol="0" anchor="ctr">
            <a:noAutofit/>
          </a:bodyPr>
          <a:lstStyle>
            <a:lvl1pPr algn="ctr">
              <a:lnSpc>
                <a:spcPct val="83000"/>
              </a:lnSpc>
              <a:defRPr lang="en-US" sz="60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 rtlCol="0"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20" name="Dátum helye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 rtlCol="0"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pPr rtl="0"/>
            <a:fld id="{E8BDBE0D-D7BD-4B72-8656-1BA1EE15204D}" type="datetime1">
              <a:rPr lang="hu-HU" smtClean="0"/>
              <a:t>2020. 11. 10.</a:t>
            </a:fld>
            <a:endParaRPr lang="en-US" dirty="0"/>
          </a:p>
        </p:txBody>
      </p:sp>
      <p:sp>
        <p:nvSpPr>
          <p:cNvPr id="21" name="Élőláb helye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22" name="Dia számának helye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B7A52B9-A8AB-438E-B534-4C40C3A9E74F}" type="datetime1">
              <a:rPr lang="hu-HU" smtClean="0"/>
              <a:t>2020. 11. 10.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 useBgFill="1">
        <p:nvSpPr>
          <p:cNvPr id="23" name="Téglalap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Téglalap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Téglalap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rtlCol="0" anchor="ctr">
            <a:noAutofit/>
          </a:bodyPr>
          <a:lstStyle>
            <a:lvl1pPr algn="ctr">
              <a:lnSpc>
                <a:spcPct val="83000"/>
              </a:lnSpc>
              <a:defRPr lang="en-US" sz="60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grpSp>
        <p:nvGrpSpPr>
          <p:cNvPr id="16" name="Csoport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Egyenes összekötő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gyenes összekötő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rtlCol="0"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 rtlCol="0"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rtl="0"/>
            <a:fld id="{F11F62F7-5E21-4DF6-AD45-F2360C22BAAE}" type="datetime1">
              <a:rPr lang="hu-HU" smtClean="0"/>
              <a:t>2020. 11. 10.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ím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1AD0CF7-F942-4A78-BD5B-565FEA1F0330}" type="datetime1">
              <a:rPr lang="hu-HU" smtClean="0"/>
              <a:t>2020. 11. 10.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B1E64E-AF4C-4D8A-B1A2-6376454CC97D}" type="datetime1">
              <a:rPr lang="hu-HU" smtClean="0"/>
              <a:t>2020. 11. 10.</a:t>
            </a:fld>
            <a:endParaRPr lang="en-US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377358-1C37-4F07-9A78-BAC0F950DA57}" type="datetime1">
              <a:rPr lang="hu-HU" smtClean="0"/>
              <a:t>2020. 11. 10.</a:t>
            </a:fld>
            <a:endParaRPr lang="en-US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FCB3493-9A23-4FBB-AEE0-C0E6D5F3648B}" type="datetime1">
              <a:rPr lang="hu-HU" smtClean="0"/>
              <a:t>2020. 11. 10.</a:t>
            </a:fld>
            <a:endParaRPr lang="en-US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 rtlCol="0"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 rtlCol="0"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8" name="Dátum helye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fld id="{C45F6E80-D825-48C2-9648-1D1B31372F92}" type="datetime1">
              <a:rPr lang="hu-HU" smtClean="0"/>
              <a:t>2020. 11. 10.</a:t>
            </a:fld>
            <a:endParaRPr lang="en-US"/>
          </a:p>
        </p:txBody>
      </p:sp>
      <p:sp>
        <p:nvSpPr>
          <p:cNvPr id="9" name="Élőláb helye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endParaRPr lang="en-US"/>
          </a:p>
        </p:txBody>
      </p:sp>
      <p:sp>
        <p:nvSpPr>
          <p:cNvPr id="11" name="Dia számának helye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Kép helyőrzője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 rtlCol="0"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rtl="0"/>
            <a:fld id="{8977A4C8-8FD0-44EA-A473-E0338D05B7ED}" type="datetime1">
              <a:rPr lang="hu-HU" smtClean="0"/>
              <a:t>2020. 11. 10.</a:t>
            </a:fld>
            <a:endParaRPr lang="en-US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 rtlCol="0"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 rtl="0"/>
            <a:endParaRPr lang="en-US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rtlCol="0"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8164A21-2A73-421C-B26A-59E41BBEFBEB}" type="datetime1">
              <a:rPr lang="hu-HU" smtClean="0"/>
              <a:t>2020. 11. 10.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 rtlCol="0"/>
          <a:lstStyle/>
          <a:p>
            <a:pPr rt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 rtlCol="0"/>
          <a:lstStyle/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27CBEE9-063A-466D-A69B-CD20FA75015F}" type="datetime1">
              <a:rPr lang="hu-HU" smtClean="0"/>
              <a:t>2020. 11. 10.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Téglalap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7" name="Téglalap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Téglalap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hu"/>
              <a:t>Mintacím stílusának szerkesztése</a:t>
            </a:r>
            <a:endParaRPr lang="en-US" dirty="0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0150E88-5DA4-48FE-971C-3A8E0386704F}" type="datetime1">
              <a:rPr lang="hu-HU" smtClean="0"/>
              <a:t>2020. 11. 10.</a:t>
            </a:fld>
            <a:endParaRPr lang="en-US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iszorz/facedetectionandrecognition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 descr="Egy embléma közelképe&#10;&#10;Automatikusan létrehozott leírás">
            <a:extLst>
              <a:ext uri="{FF2B5EF4-FFF2-40B4-BE49-F238E27FC236}">
                <a16:creationId xmlns:a16="http://schemas.microsoft.com/office/drawing/2014/main" id="{8045422F-7258-40AC-BD2E-2469AA448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20" y="10"/>
            <a:ext cx="12331063" cy="6857990"/>
          </a:xfrm>
          <a:prstGeom prst="rect">
            <a:avLst/>
          </a:prstGeom>
        </p:spPr>
      </p:pic>
      <p:sp>
        <p:nvSpPr>
          <p:cNvPr id="82" name="Téglalap 81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84" name="Téglalap 83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 rtlCol="0">
            <a:normAutofit/>
          </a:bodyPr>
          <a:lstStyle/>
          <a:p>
            <a:pPr rtl="0"/>
            <a:r>
              <a:rPr lang="hu" sz="4400" dirty="0">
                <a:solidFill>
                  <a:schemeClr val="tx1"/>
                </a:solidFill>
              </a:rPr>
              <a:t>ARCDETEKTÁLÁS ÉS FELISMERÉS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2" y="3706537"/>
            <a:ext cx="4775075" cy="559656"/>
          </a:xfrm>
        </p:spPr>
        <p:txBody>
          <a:bodyPr rtlCol="0">
            <a:normAutofit/>
          </a:bodyPr>
          <a:lstStyle/>
          <a:p>
            <a:pPr rtl="0">
              <a:spcAft>
                <a:spcPts val="600"/>
              </a:spcAft>
            </a:pPr>
            <a:r>
              <a:rPr lang="hu" dirty="0">
                <a:solidFill>
                  <a:schemeClr val="tx1"/>
                </a:solidFill>
              </a:rPr>
              <a:t>(OPENCV C++)</a:t>
            </a:r>
          </a:p>
        </p:txBody>
      </p:sp>
      <p:sp>
        <p:nvSpPr>
          <p:cNvPr id="7" name="Alcím 2">
            <a:extLst>
              <a:ext uri="{FF2B5EF4-FFF2-40B4-BE49-F238E27FC236}">
                <a16:creationId xmlns:a16="http://schemas.microsoft.com/office/drawing/2014/main" id="{A586D466-9A8B-4CEC-ABE7-B17A2FCABEA0}"/>
              </a:ext>
            </a:extLst>
          </p:cNvPr>
          <p:cNvSpPr txBox="1">
            <a:spLocks/>
          </p:cNvSpPr>
          <p:nvPr/>
        </p:nvSpPr>
        <p:spPr>
          <a:xfrm>
            <a:off x="6033791" y="4366719"/>
            <a:ext cx="4775075" cy="559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800" kern="1200" spc="8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hu" dirty="0">
                <a:solidFill>
                  <a:schemeClr val="tx1"/>
                </a:solidFill>
              </a:rPr>
              <a:t>Országh Levente Máté (Z79CCJ)</a:t>
            </a:r>
          </a:p>
        </p:txBody>
      </p:sp>
    </p:spTree>
    <p:extLst>
      <p:ext uri="{BB962C8B-B14F-4D97-AF65-F5344CB8AC3E}">
        <p14:creationId xmlns:p14="http://schemas.microsoft.com/office/powerpoint/2010/main" val="2584280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Célkitűzés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/>
          <a:lstStyle/>
          <a:p>
            <a:pPr algn="just"/>
            <a:r>
              <a:rPr lang="hu-HU" sz="2300" dirty="0"/>
              <a:t>Olyan alkalmazás elkészítése, mely nem csak arcok detektálására, hanem azok felismerésére is alkalmas (a betanítást követően)</a:t>
            </a:r>
          </a:p>
          <a:p>
            <a:pPr algn="just"/>
            <a:r>
              <a:rPr lang="hu-HU" sz="2300" dirty="0"/>
              <a:t>Képes legyen a kameraképen megjelenő összes arc detektálására, illetve a képen lévő emberek létszámának kiírására</a:t>
            </a:r>
          </a:p>
          <a:p>
            <a:pPr algn="just"/>
            <a:r>
              <a:rPr lang="hu-HU" sz="2300" dirty="0"/>
              <a:t>A betanítás kezdőlépése legyen az arc detektálása, majd arról azonos méretben 10 kép elkészítése, mentése egy tanító mappába</a:t>
            </a:r>
          </a:p>
          <a:p>
            <a:pPr algn="just"/>
            <a:r>
              <a:rPr lang="hu-HU" sz="2300" dirty="0"/>
              <a:t>Amennyiben egy arc be lett tanítva, a felismerést bizonyítva jelenítse meg a kameraképen a hozzá tartozó sorszámot is</a:t>
            </a:r>
          </a:p>
        </p:txBody>
      </p:sp>
    </p:spTree>
    <p:extLst>
      <p:ext uri="{BB962C8B-B14F-4D97-AF65-F5344CB8AC3E}">
        <p14:creationId xmlns:p14="http://schemas.microsoft.com/office/powerpoint/2010/main" val="45392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Irodalom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>
            <a:normAutofit/>
          </a:bodyPr>
          <a:lstStyle/>
          <a:p>
            <a:r>
              <a:rPr lang="hu-HU" sz="2300" dirty="0"/>
              <a:t>Arcfelismerő rendszer: olyan számítógépes rendszer, mely automatikusan azonosítja, vagy ellenőrzi egy személy azonosságát egy digitális kép felhasználásával</a:t>
            </a:r>
          </a:p>
          <a:p>
            <a:r>
              <a:rPr lang="hu-HU" sz="2300" dirty="0"/>
              <a:t>Arcdetektálás során az alkalmazás megkeresi a képen az emberi arcokat és kivágja a területet azonosítás céljából</a:t>
            </a:r>
          </a:p>
          <a:p>
            <a:r>
              <a:rPr lang="hu-HU" sz="2300" dirty="0"/>
              <a:t>Leggyakoribb arcdetektáló módszerek: komponens-alapú, ellipszisillesztés és szegmentálás bőrszín alapján</a:t>
            </a:r>
          </a:p>
          <a:p>
            <a:r>
              <a:rPr lang="hu-HU" sz="2300" dirty="0"/>
              <a:t>Leggyakoribb arcfelismerő módszerek: sablonillesztés, neurális hálók, </a:t>
            </a:r>
            <a:r>
              <a:rPr lang="hu-HU" sz="2300" dirty="0" err="1"/>
              <a:t>Eigenface</a:t>
            </a:r>
            <a:endParaRPr lang="hu-HU" sz="2300" dirty="0"/>
          </a:p>
          <a:p>
            <a:endParaRPr lang="hu-HU" sz="2300" dirty="0"/>
          </a:p>
        </p:txBody>
      </p:sp>
    </p:spTree>
    <p:extLst>
      <p:ext uri="{BB962C8B-B14F-4D97-AF65-F5344CB8AC3E}">
        <p14:creationId xmlns:p14="http://schemas.microsoft.com/office/powerpoint/2010/main" val="95535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Irodalom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>
            <a:normAutofit/>
          </a:bodyPr>
          <a:lstStyle/>
          <a:p>
            <a:r>
              <a:rPr lang="hu-HU" sz="2300" dirty="0" err="1"/>
              <a:t>Eigenface</a:t>
            </a:r>
            <a:r>
              <a:rPr lang="hu-HU" sz="2300" dirty="0"/>
              <a:t>-módszer: az arc képét egy olyan vektor reprezentálja, amelyet sajátarcnak nevezett sajátvektorral kell definiálni</a:t>
            </a:r>
          </a:p>
          <a:p>
            <a:r>
              <a:rPr lang="hu-HU" sz="2300" dirty="0"/>
              <a:t>Szürkeárnyalatos képeket tud csak feldolgozni, tehát a színes kameraképeket át kell alakítani</a:t>
            </a:r>
          </a:p>
          <a:p>
            <a:r>
              <a:rPr lang="hu-HU" sz="2300" dirty="0"/>
              <a:t>A képekhez oszlopvektorok fognak tartozni, melyek a szürkeárnyalat értékeket tartalmazzák</a:t>
            </a:r>
          </a:p>
          <a:p>
            <a:r>
              <a:rPr lang="hu-HU" sz="2300" dirty="0"/>
              <a:t>A beolvasott képek átlaga az átlagarc, az ún. arctér pedig az arcok közötti eltéréseket fejezi ki</a:t>
            </a:r>
          </a:p>
          <a:p>
            <a:r>
              <a:rPr lang="hu-HU" sz="2300" dirty="0"/>
              <a:t>A keresett arcból kivonjuk az átlagarcot, majd rávetítjük az arctérre, az a kép hasonlít a legjobban a keresett arcra, amelyikre a legkisebb a távolság</a:t>
            </a:r>
          </a:p>
          <a:p>
            <a:endParaRPr lang="hu-HU" sz="2300" dirty="0"/>
          </a:p>
          <a:p>
            <a:endParaRPr lang="hu-HU" sz="2300" dirty="0"/>
          </a:p>
          <a:p>
            <a:endParaRPr lang="hu-HU" sz="2300" dirty="0"/>
          </a:p>
        </p:txBody>
      </p:sp>
    </p:spTree>
    <p:extLst>
      <p:ext uri="{BB962C8B-B14F-4D97-AF65-F5344CB8AC3E}">
        <p14:creationId xmlns:p14="http://schemas.microsoft.com/office/powerpoint/2010/main" val="3808267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Felhasznált eszközök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>
            <a:normAutofit/>
          </a:bodyPr>
          <a:lstStyle/>
          <a:p>
            <a:r>
              <a:rPr lang="hu-HU" sz="2300" dirty="0"/>
              <a:t>Környezet: Visual </a:t>
            </a:r>
            <a:r>
              <a:rPr lang="hu-HU" sz="2300" dirty="0" err="1"/>
              <a:t>Studio</a:t>
            </a:r>
            <a:r>
              <a:rPr lang="hu-HU" sz="2300" dirty="0"/>
              <a:t> 2019 </a:t>
            </a:r>
          </a:p>
          <a:p>
            <a:r>
              <a:rPr lang="hu-HU" sz="2300" dirty="0"/>
              <a:t>Nyelv: C++</a:t>
            </a:r>
          </a:p>
          <a:p>
            <a:r>
              <a:rPr lang="hu-HU" sz="2300" dirty="0"/>
              <a:t>Könyvtár: </a:t>
            </a:r>
            <a:r>
              <a:rPr lang="hu-HU" sz="2300" dirty="0" err="1"/>
              <a:t>OpenCV</a:t>
            </a:r>
            <a:r>
              <a:rPr lang="hu-HU" sz="2300" dirty="0"/>
              <a:t> 4.5</a:t>
            </a:r>
          </a:p>
          <a:p>
            <a:r>
              <a:rPr lang="hu-HU" sz="2300" dirty="0" err="1"/>
              <a:t>OpenCV</a:t>
            </a:r>
            <a:r>
              <a:rPr lang="hu-HU" sz="2300" dirty="0"/>
              <a:t> modulok: </a:t>
            </a:r>
            <a:r>
              <a:rPr lang="hu-HU" sz="2300" dirty="0" err="1"/>
              <a:t>core</a:t>
            </a:r>
            <a:r>
              <a:rPr lang="hu-HU" sz="2300" dirty="0"/>
              <a:t>, </a:t>
            </a:r>
            <a:r>
              <a:rPr lang="hu-HU" sz="2300" dirty="0" err="1"/>
              <a:t>highgui</a:t>
            </a:r>
            <a:r>
              <a:rPr lang="hu-HU" sz="2300" dirty="0"/>
              <a:t>, </a:t>
            </a:r>
            <a:r>
              <a:rPr lang="hu-HU" sz="2300" dirty="0" err="1"/>
              <a:t>imgproc</a:t>
            </a:r>
            <a:r>
              <a:rPr lang="hu-HU" sz="2300" dirty="0"/>
              <a:t>, </a:t>
            </a:r>
            <a:r>
              <a:rPr lang="hu-HU" sz="2300" dirty="0" err="1"/>
              <a:t>objdetect</a:t>
            </a:r>
            <a:r>
              <a:rPr lang="hu-HU" sz="2300" dirty="0"/>
              <a:t>, </a:t>
            </a:r>
            <a:r>
              <a:rPr lang="hu-HU" sz="2300" dirty="0" err="1"/>
              <a:t>face</a:t>
            </a:r>
            <a:endParaRPr lang="hu-HU" sz="2300" dirty="0"/>
          </a:p>
          <a:p>
            <a:r>
              <a:rPr lang="hu-HU" sz="2300" dirty="0"/>
              <a:t>Detektáláshoz használt algoritmus: </a:t>
            </a:r>
            <a:r>
              <a:rPr lang="hu-HU" sz="2300" dirty="0" err="1"/>
              <a:t>Haar</a:t>
            </a:r>
            <a:r>
              <a:rPr lang="hu-HU" sz="2300" dirty="0"/>
              <a:t> </a:t>
            </a:r>
            <a:r>
              <a:rPr lang="hu-HU" sz="2300" dirty="0" err="1"/>
              <a:t>Cascade</a:t>
            </a:r>
            <a:br>
              <a:rPr lang="hu-HU" sz="2300" dirty="0"/>
            </a:br>
            <a:r>
              <a:rPr lang="hu-HU" sz="2300" dirty="0"/>
              <a:t>(cv::</a:t>
            </a:r>
            <a:r>
              <a:rPr lang="hu-HU" sz="2300" dirty="0" err="1"/>
              <a:t>CascadeClassifier</a:t>
            </a:r>
            <a:r>
              <a:rPr lang="hu-HU" sz="2300" dirty="0"/>
              <a:t> osztály)</a:t>
            </a:r>
          </a:p>
          <a:p>
            <a:r>
              <a:rPr lang="hu-HU" sz="2300" dirty="0"/>
              <a:t>Betanításhoz használt algoritmus: </a:t>
            </a:r>
            <a:r>
              <a:rPr lang="hu-HU" sz="2300" dirty="0" err="1"/>
              <a:t>Eigenfaces</a:t>
            </a:r>
            <a:br>
              <a:rPr lang="hu-HU" sz="2300" dirty="0"/>
            </a:br>
            <a:r>
              <a:rPr lang="hu-HU" sz="2300" dirty="0"/>
              <a:t>(cv::</a:t>
            </a:r>
            <a:r>
              <a:rPr lang="hu-HU" sz="2300" dirty="0" err="1"/>
              <a:t>face</a:t>
            </a:r>
            <a:r>
              <a:rPr lang="hu-HU" sz="2300" dirty="0"/>
              <a:t>::</a:t>
            </a:r>
            <a:r>
              <a:rPr lang="hu-HU" sz="2300" dirty="0" err="1"/>
              <a:t>EigenFaceRecognizer</a:t>
            </a:r>
            <a:r>
              <a:rPr lang="hu-HU" sz="2300" dirty="0"/>
              <a:t> osztály)</a:t>
            </a:r>
          </a:p>
          <a:p>
            <a:r>
              <a:rPr lang="hu-HU" sz="2300" dirty="0"/>
              <a:t>Felismeréshez használt algoritmus: </a:t>
            </a:r>
            <a:r>
              <a:rPr lang="hu-HU" sz="2300" dirty="0" err="1"/>
              <a:t>Fisherfaces</a:t>
            </a:r>
            <a:br>
              <a:rPr lang="hu-HU" sz="2300" dirty="0"/>
            </a:br>
            <a:r>
              <a:rPr lang="hu-HU" sz="2300" dirty="0"/>
              <a:t>(cv::</a:t>
            </a:r>
            <a:r>
              <a:rPr lang="hu-HU" sz="2300" dirty="0" err="1"/>
              <a:t>face</a:t>
            </a:r>
            <a:r>
              <a:rPr lang="hu-HU" sz="2300" dirty="0"/>
              <a:t>::</a:t>
            </a:r>
            <a:r>
              <a:rPr lang="hu-HU" sz="2300" dirty="0" err="1"/>
              <a:t>FisherFaceRecognizer</a:t>
            </a:r>
            <a:r>
              <a:rPr lang="hu-HU" sz="2300" dirty="0"/>
              <a:t> osztály)</a:t>
            </a:r>
          </a:p>
          <a:p>
            <a:endParaRPr lang="hu-HU" sz="2300" dirty="0"/>
          </a:p>
          <a:p>
            <a:endParaRPr lang="hu-HU" sz="2300" dirty="0"/>
          </a:p>
        </p:txBody>
      </p:sp>
    </p:spTree>
    <p:extLst>
      <p:ext uri="{BB962C8B-B14F-4D97-AF65-F5344CB8AC3E}">
        <p14:creationId xmlns:p14="http://schemas.microsoft.com/office/powerpoint/2010/main" val="2643840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Felvételek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/>
          <a:lstStyle/>
          <a:p>
            <a:pPr marL="0" indent="0">
              <a:buNone/>
            </a:pPr>
            <a:r>
              <a:rPr lang="hu-HU" sz="2300" dirty="0"/>
              <a:t>Tesztképek: </a:t>
            </a:r>
          </a:p>
          <a:p>
            <a:r>
              <a:rPr lang="hu-HU" sz="2300" dirty="0"/>
              <a:t>NVIDIA Research </a:t>
            </a:r>
            <a:r>
              <a:rPr lang="hu-HU" sz="2300" dirty="0" err="1"/>
              <a:t>Projects</a:t>
            </a:r>
            <a:r>
              <a:rPr lang="hu-HU" sz="2300" dirty="0"/>
              <a:t>: </a:t>
            </a:r>
            <a:r>
              <a:rPr lang="hu-HU" sz="2300" dirty="0" err="1"/>
              <a:t>Flickr</a:t>
            </a:r>
            <a:r>
              <a:rPr lang="hu-HU" sz="2300" dirty="0"/>
              <a:t>-</a:t>
            </a:r>
            <a:r>
              <a:rPr lang="hu-HU" sz="2300" dirty="0" err="1"/>
              <a:t>Faces</a:t>
            </a:r>
            <a:r>
              <a:rPr lang="hu-HU" sz="2300" dirty="0"/>
              <a:t>-HQ </a:t>
            </a:r>
            <a:r>
              <a:rPr lang="hu-HU" sz="2300" dirty="0" err="1"/>
              <a:t>Dataset</a:t>
            </a:r>
            <a:r>
              <a:rPr lang="hu-HU" sz="2300" dirty="0"/>
              <a:t> </a:t>
            </a:r>
            <a:r>
              <a:rPr lang="hu-HU" sz="2300" dirty="0" err="1"/>
              <a:t>thumbnail</a:t>
            </a:r>
            <a:r>
              <a:rPr lang="hu-HU" sz="2300" dirty="0"/>
              <a:t> fotói</a:t>
            </a:r>
            <a:br>
              <a:rPr lang="hu-HU" sz="2300" dirty="0"/>
            </a:br>
            <a:r>
              <a:rPr lang="hu-HU" sz="2300" dirty="0"/>
              <a:t>128x128 pixel, 120 </a:t>
            </a:r>
            <a:r>
              <a:rPr lang="hu-HU" sz="2300" dirty="0" err="1"/>
              <a:t>dpi</a:t>
            </a:r>
            <a:r>
              <a:rPr lang="hu-HU" sz="2300" dirty="0"/>
              <a:t>, PNG formátum (átkonvertálva 96 </a:t>
            </a:r>
            <a:r>
              <a:rPr lang="hu-HU" sz="2300" dirty="0" err="1"/>
              <a:t>dpi</a:t>
            </a:r>
            <a:r>
              <a:rPr lang="hu-HU" sz="2300" dirty="0"/>
              <a:t> JPG-re)</a:t>
            </a:r>
          </a:p>
          <a:p>
            <a:endParaRPr lang="hu-HU" sz="2300" dirty="0"/>
          </a:p>
          <a:p>
            <a:endParaRPr lang="hu-HU" sz="2300" dirty="0"/>
          </a:p>
          <a:p>
            <a:pPr marL="0" indent="0">
              <a:buNone/>
            </a:pPr>
            <a:r>
              <a:rPr lang="hu-HU" sz="2300" dirty="0"/>
              <a:t>Ezek alapján:</a:t>
            </a:r>
          </a:p>
          <a:p>
            <a:r>
              <a:rPr lang="hu-HU" sz="2300" dirty="0"/>
              <a:t>Lenovo Ideapad 520-15IKB laptop beépített webkamerája </a:t>
            </a:r>
            <a:br>
              <a:rPr lang="hu-HU" sz="2300" dirty="0"/>
            </a:br>
            <a:r>
              <a:rPr lang="hu-HU" sz="2300" dirty="0"/>
              <a:t>128x128 pixel, 96 </a:t>
            </a:r>
            <a:r>
              <a:rPr lang="hu-HU" sz="2300" dirty="0" err="1"/>
              <a:t>dpi</a:t>
            </a:r>
            <a:r>
              <a:rPr lang="hu-HU" sz="2300" dirty="0"/>
              <a:t>, JPG formátum</a:t>
            </a:r>
          </a:p>
        </p:txBody>
      </p:sp>
      <p:pic>
        <p:nvPicPr>
          <p:cNvPr id="5" name="Kép 4" descr="A képen személy, férfi, kültéri, mosolygó látható&#10;&#10;Automatikusan generált leírás">
            <a:extLst>
              <a:ext uri="{FF2B5EF4-FFF2-40B4-BE49-F238E27FC236}">
                <a16:creationId xmlns:a16="http://schemas.microsoft.com/office/drawing/2014/main" id="{227B1C4A-D4AB-45DA-8AC6-9A0AB3D03E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249" y="2894816"/>
            <a:ext cx="1080000" cy="1080000"/>
          </a:xfrm>
          <a:prstGeom prst="rect">
            <a:avLst/>
          </a:prstGeom>
        </p:spPr>
      </p:pic>
      <p:pic>
        <p:nvPicPr>
          <p:cNvPr id="7" name="Kép 6" descr="A képen személy, férfi, nyakkendő, beltéri látható&#10;&#10;Automatikusan generált leírás">
            <a:extLst>
              <a:ext uri="{FF2B5EF4-FFF2-40B4-BE49-F238E27FC236}">
                <a16:creationId xmlns:a16="http://schemas.microsoft.com/office/drawing/2014/main" id="{53F27B29-6C22-4CA3-B163-6F4674ADA8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2272" y="2894816"/>
            <a:ext cx="1080000" cy="1080000"/>
          </a:xfrm>
          <a:prstGeom prst="rect">
            <a:avLst/>
          </a:prstGeom>
        </p:spPr>
      </p:pic>
      <p:pic>
        <p:nvPicPr>
          <p:cNvPr id="9" name="Kép 8" descr="A képen személy, épület, nő, lány látható&#10;&#10;Automatikusan generált leírás">
            <a:extLst>
              <a:ext uri="{FF2B5EF4-FFF2-40B4-BE49-F238E27FC236}">
                <a16:creationId xmlns:a16="http://schemas.microsoft.com/office/drawing/2014/main" id="{25BC35BB-B284-458B-8552-56FB44FEB6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5295" y="2894816"/>
            <a:ext cx="1080000" cy="1080000"/>
          </a:xfrm>
          <a:prstGeom prst="rect">
            <a:avLst/>
          </a:prstGeom>
        </p:spPr>
      </p:pic>
      <p:pic>
        <p:nvPicPr>
          <p:cNvPr id="11" name="Kép 10" descr="A képen személy, kültéri, nő, víz látható&#10;&#10;Automatikusan generált leírás">
            <a:extLst>
              <a:ext uri="{FF2B5EF4-FFF2-40B4-BE49-F238E27FC236}">
                <a16:creationId xmlns:a16="http://schemas.microsoft.com/office/drawing/2014/main" id="{47CA98DC-67FC-438E-8E79-8AE7DCBB64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8318" y="2894816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306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Arcdetektálás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>
            <a:normAutofit/>
          </a:bodyPr>
          <a:lstStyle/>
          <a:p>
            <a:r>
              <a:rPr lang="hu-HU" sz="2300" dirty="0"/>
              <a:t>Sorszám megadása =&gt; </a:t>
            </a:r>
            <a:r>
              <a:rPr lang="hu-HU" sz="2300" dirty="0" err="1"/>
              <a:t>label</a:t>
            </a:r>
            <a:r>
              <a:rPr lang="hu-HU" sz="2300" dirty="0"/>
              <a:t> (címke)</a:t>
            </a:r>
          </a:p>
          <a:p>
            <a:r>
              <a:rPr lang="hu-HU" sz="2300" dirty="0"/>
              <a:t>Kamera élőképének lekérése (</a:t>
            </a:r>
            <a:r>
              <a:rPr lang="hu-HU" sz="2300" dirty="0" err="1"/>
              <a:t>VideoCapture</a:t>
            </a:r>
            <a:r>
              <a:rPr lang="hu-HU" sz="2300" dirty="0"/>
              <a:t>)</a:t>
            </a:r>
          </a:p>
          <a:p>
            <a:r>
              <a:rPr lang="hu-HU" sz="2300" dirty="0"/>
              <a:t>Kamerakép szürkeskálássá alakítása, hisztogramkiegyenlítés (</a:t>
            </a:r>
            <a:r>
              <a:rPr lang="hu-HU" sz="2300" dirty="0" err="1"/>
              <a:t>cvtColor</a:t>
            </a:r>
            <a:r>
              <a:rPr lang="hu-HU" sz="2300" dirty="0"/>
              <a:t>, </a:t>
            </a:r>
            <a:r>
              <a:rPr lang="hu-HU" sz="2300" dirty="0" err="1"/>
              <a:t>equalizeHist</a:t>
            </a:r>
            <a:r>
              <a:rPr lang="hu-HU" sz="2300" dirty="0"/>
              <a:t>)</a:t>
            </a:r>
          </a:p>
          <a:p>
            <a:r>
              <a:rPr lang="hu-HU" sz="2300" dirty="0"/>
              <a:t>Detektáljuk a kameraképen előforduló arcot (</a:t>
            </a:r>
            <a:r>
              <a:rPr lang="hu-HU" sz="2300" dirty="0" err="1"/>
              <a:t>detectMultiScale</a:t>
            </a:r>
            <a:r>
              <a:rPr lang="hu-HU" sz="2300" dirty="0"/>
              <a:t>)</a:t>
            </a:r>
          </a:p>
          <a:p>
            <a:r>
              <a:rPr lang="hu-HU" sz="2300" dirty="0"/>
              <a:t>A függvény visszaad egy négyzetet, ami a detektált arcot határolja</a:t>
            </a:r>
          </a:p>
          <a:p>
            <a:r>
              <a:rPr lang="hu-HU" sz="2300" dirty="0"/>
              <a:t>A négyzet 128x128 pixelre lesz átméretezve, JPG formátumban mentjük</a:t>
            </a:r>
          </a:p>
          <a:p>
            <a:r>
              <a:rPr lang="hu-HU" sz="2300" dirty="0"/>
              <a:t>Az arcról készült képek (10 db) a tanító képeket tartalmazó mappába kerülnek</a:t>
            </a:r>
          </a:p>
          <a:p>
            <a:endParaRPr lang="hu-HU" sz="2300" dirty="0"/>
          </a:p>
          <a:p>
            <a:endParaRPr lang="hu-HU" sz="2300" dirty="0"/>
          </a:p>
        </p:txBody>
      </p:sp>
    </p:spTree>
    <p:extLst>
      <p:ext uri="{BB962C8B-B14F-4D97-AF65-F5344CB8AC3E}">
        <p14:creationId xmlns:p14="http://schemas.microsoft.com/office/powerpoint/2010/main" val="503873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dirty="0"/>
              <a:t>Arcfelismerés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>
            <a:normAutofit/>
          </a:bodyPr>
          <a:lstStyle/>
          <a:p>
            <a:r>
              <a:rPr lang="hu-HU" sz="2300" dirty="0"/>
              <a:t>A tanító adatokat tartalmazó mappából beolvassuk a képeket és a címkéket</a:t>
            </a:r>
          </a:p>
          <a:p>
            <a:r>
              <a:rPr lang="hu-HU" sz="2300" dirty="0"/>
              <a:t>Létrehozunk az </a:t>
            </a:r>
            <a:r>
              <a:rPr lang="hu-HU" sz="2300" dirty="0" err="1"/>
              <a:t>Eigenface</a:t>
            </a:r>
            <a:r>
              <a:rPr lang="hu-HU" sz="2300" dirty="0"/>
              <a:t> módszerrel egy modellt, melynek betanítjuk a képeket és a címkéket</a:t>
            </a:r>
          </a:p>
          <a:p>
            <a:r>
              <a:rPr lang="hu-HU" sz="2300" dirty="0"/>
              <a:t>A tanítás során létrejövő adatokat egy külön fájlban tároljuk, ezt dolgozza fel a </a:t>
            </a:r>
            <a:r>
              <a:rPr lang="hu-HU" sz="2300" dirty="0" err="1"/>
              <a:t>Fisherface</a:t>
            </a:r>
            <a:r>
              <a:rPr lang="hu-HU" sz="2300" dirty="0"/>
              <a:t> módszerrel létrehozott modellünk</a:t>
            </a:r>
          </a:p>
          <a:p>
            <a:r>
              <a:rPr lang="hu-HU" sz="2300" dirty="0"/>
              <a:t>Elindul a kamera élőképe, detektáljuk az előforduló arcokat, amennyiben a betanított személy is szerepel a kameraképen, úgy annak arca felett megjelenik a korábban megadott sorszáma is</a:t>
            </a:r>
          </a:p>
          <a:p>
            <a:r>
              <a:rPr lang="hu-HU" sz="2300" dirty="0"/>
              <a:t>Ha több betanított személy is szerepel a kameraképen, akkor mindannyian a saját sorszámukat láthatják</a:t>
            </a:r>
          </a:p>
        </p:txBody>
      </p:sp>
    </p:spTree>
    <p:extLst>
      <p:ext uri="{BB962C8B-B14F-4D97-AF65-F5344CB8AC3E}">
        <p14:creationId xmlns:p14="http://schemas.microsoft.com/office/powerpoint/2010/main" val="329062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2897"/>
            <a:ext cx="10058400" cy="724567"/>
          </a:xfrm>
        </p:spPr>
        <p:txBody>
          <a:bodyPr rtlCol="0">
            <a:normAutofit/>
          </a:bodyPr>
          <a:lstStyle/>
          <a:p>
            <a:pPr algn="ctr" rtl="0"/>
            <a:r>
              <a:rPr lang="hu" sz="3200" dirty="0"/>
              <a:t>Eredmények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31D94AC-2130-48DE-8AA0-B29ECBC06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04188"/>
            <a:ext cx="10058400" cy="4834468"/>
          </a:xfrm>
        </p:spPr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8100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3895E1-EFAF-4CB5-93EA-2D0E304735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400" dirty="0"/>
              <a:t>Köszönöm a figyelmet!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D3A1F1A-3428-4A76-8FBE-0DDF7FCA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dirty="0"/>
              <a:t>2020.11.30.</a:t>
            </a:r>
            <a:endParaRPr lang="en-US" dirty="0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FC430C9B-29C5-43CC-B588-1681123EB63A}"/>
              </a:ext>
            </a:extLst>
          </p:cNvPr>
          <p:cNvSpPr txBox="1">
            <a:spLocks/>
          </p:cNvSpPr>
          <p:nvPr/>
        </p:nvSpPr>
        <p:spPr>
          <a:xfrm>
            <a:off x="1629101" y="4618138"/>
            <a:ext cx="8933795" cy="9639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lang="en-US" sz="6000" b="0" i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hu-HU" sz="1600" dirty="0">
                <a:hlinkClick r:id="rId2"/>
              </a:rPr>
              <a:t>https://github.com/whoiszorz/facedetectionandrecognition</a:t>
            </a:r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12194415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FIVE">
      <a:dk1>
        <a:sysClr val="windowText" lastClr="000000"/>
      </a:dk1>
      <a:lt1>
        <a:sysClr val="window" lastClr="FFFFFF"/>
      </a:lt1>
      <a:dk2>
        <a:srgbClr val="505046"/>
      </a:dk2>
      <a:lt2>
        <a:srgbClr val="F5F6F4"/>
      </a:lt2>
      <a:accent1>
        <a:srgbClr val="57903F"/>
      </a:accent1>
      <a:accent2>
        <a:srgbClr val="F03F2B"/>
      </a:accent2>
      <a:accent3>
        <a:srgbClr val="3488A0"/>
      </a:accent3>
      <a:accent4>
        <a:srgbClr val="F8D22F"/>
      </a:accent4>
      <a:accent5>
        <a:srgbClr val="5CC6D6"/>
      </a:accent5>
      <a:accent6>
        <a:srgbClr val="B8D233"/>
      </a:accent6>
      <a:hlink>
        <a:srgbClr val="00B0F0"/>
      </a:hlink>
      <a:folHlink>
        <a:srgbClr val="B2B2B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24_TF78438558" id="{AB246F2A-2CBF-491E-A6C5-29DA362F2C33}" vid="{99588252-1777-460A-BE9C-614E107CF06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{3C9C03C7-3310-4FAB-829D-289083E5A7BF}tf78438558</Template>
  <TotalTime>230</TotalTime>
  <Words>652</Words>
  <Application>Microsoft Office PowerPoint</Application>
  <PresentationFormat>Szélesvásznú</PresentationFormat>
  <Paragraphs>61</Paragraphs>
  <Slides>10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4" baseType="lpstr">
      <vt:lpstr>Calibri</vt:lpstr>
      <vt:lpstr>Century Gothic</vt:lpstr>
      <vt:lpstr>Garamond</vt:lpstr>
      <vt:lpstr>SavonVTI</vt:lpstr>
      <vt:lpstr>ARCDETEKTÁLÁS ÉS FELISMERÉS</vt:lpstr>
      <vt:lpstr>Célkitűzés</vt:lpstr>
      <vt:lpstr>Irodalom</vt:lpstr>
      <vt:lpstr>Irodalom</vt:lpstr>
      <vt:lpstr>Felhasznált eszközök</vt:lpstr>
      <vt:lpstr>Felvételek</vt:lpstr>
      <vt:lpstr>Arcdetektálás</vt:lpstr>
      <vt:lpstr>Arcfelismerés</vt:lpstr>
      <vt:lpstr>Eredmények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ARCDETEKTÁLÁS ÉS FELISMERÉS</dc:title>
  <dc:creator>Levente Országh</dc:creator>
  <cp:lastModifiedBy>Levente Országh</cp:lastModifiedBy>
  <cp:revision>47</cp:revision>
  <dcterms:created xsi:type="dcterms:W3CDTF">2020-11-09T17:26:58Z</dcterms:created>
  <dcterms:modified xsi:type="dcterms:W3CDTF">2020-11-10T19:05:54Z</dcterms:modified>
</cp:coreProperties>
</file>